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21"/>
    <p:sldId id="269" r:id="rId26"/>
    <p:sldId id="270" r:id="rId27"/>
    <p:sldId id="271" r:id="rId28"/>
    <p:sldId id="272" r:id="rId29"/>
    <p:sldId id="273" r:id="rId30"/>
    <p:sldId id="265" r:id="rId22"/>
    <p:sldId id="266" r:id="rId23"/>
    <p:sldId id="267" r:id="rId24"/>
    <p:sldId id="268" r:id="rId25"/>
  </p:sldIdLst>
  <p:sldSz cy="5143500" cx="9144000"/>
  <p:notesSz cx="6858000" cy="9144000"/>
  <p:embeddedFontLst>
    <p:embeddedFont>
      <p:font typeface="Red Hat Display Black"/>
      <p:bold r:id="rId14"/>
      <p:boldItalic r:id="rId15"/>
    </p:embeddedFont>
    <p:embeddedFont>
      <p:font typeface="Red Hat Display Medium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0" roundtripDataSignature="AMtx7miH5YU2xRyVFFKnpn3nGuTppcj9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RedHatDisplayBlack-bold.fntdata"/><Relationship Id="rId15" Type="http://schemas.openxmlformats.org/officeDocument/2006/relationships/font" Target="fonts/RedHatDisplayBlack-boldItalic.fntdata"/><Relationship Id="rId16" Type="http://schemas.openxmlformats.org/officeDocument/2006/relationships/font" Target="fonts/RedHatDisplayMedium-regular.fntdata"/><Relationship Id="rId17" Type="http://schemas.openxmlformats.org/officeDocument/2006/relationships/font" Target="fonts/RedHatDisplayMedium-bold.fntdata"/><Relationship Id="rId18" Type="http://schemas.openxmlformats.org/officeDocument/2006/relationships/font" Target="fonts/RedHatDisplayMedium-italic.fntdata"/><Relationship Id="rId19" Type="http://schemas.openxmlformats.org/officeDocument/2006/relationships/font" Target="fonts/RedHatDisplayMedium-boldItalic.fntdata"/><Relationship Id="rId20" Type="http://customschemas.google.com/relationships/presentationmetadata" Target="metadata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Auto-insurance edition: the same streaming-MCP pattern, applied to an insurer's claims and telematics platform. All data in the demo is synthetic.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Eight insurance services publish to the insurance-events topic. The MCP server pushes events to the AI ops agent; on a spike the LLM calls back through Cedar-checked, PII-redacted tools and consults the insurer's runbooks.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Today MCP works like a snapshot camera — the agent asks, gets a point-in-time answer, moves on.</a:t>
            </a:r>
          </a:p>
          <a:p>
            <a:r>
              <a:t>- Real scenario: deploy at 2:03pm, errors spike at 2:04pm, agent doesn't know until 2:15pm. That's an 11-minute blind spot.</a:t>
            </a:r>
          </a:p>
          <a:p>
            <a:r>
              <a:t>- The timeline diagram shows the red gap — the danger zone.</a:t>
            </a:r>
          </a:p>
          <a:p>
            <a:r>
              <a:t>- In incident response, trading, security — 11 minutes is an eternity.</a:t>
            </a:r>
          </a:p>
          <a:p>
            <a:r>
              <a:t>- Can we flip the model so context flows TO the agent continuously?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Top row: traditional pull-based MCP. Bottom row: what we're building.</a:t>
            </a:r>
          </a:p>
          <a:p>
            <a:r>
              <a:t>- Event sources feed Kafka, Kafka feeds the MCP server, server pushes to agents over WebSockets.</a:t>
            </a:r>
          </a:p>
          <a:p>
            <a:r>
              <a:t>- Why Kafka? (1) Durability — events persisted for replay. (2) Backpressure — handles slow consumers. (3) Already in your infra.</a:t>
            </a:r>
          </a:p>
          <a:p>
            <a:r>
              <a:t>- Key insight: hybrid protocol — streaming AND request/response on the same WebSocket. Zero changes to existing MCP tools.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Minimal extension — just two new methods: subscribe and unsubscribe.</a:t>
            </a:r>
          </a:p>
          <a:p>
            <a:r>
              <a:t>- Sequence: Agent sends subscribe('app-logs'). Events flow continuously. Error spike arrives immediately.</a:t>
            </a:r>
          </a:p>
          <a:p>
            <a:r>
              <a:t>- Mid-stream, agent sends get_anomalies() — hybrid protocol in action.</a:t>
            </a:r>
          </a:p>
          <a:p>
            <a:r>
              <a:t>- Backpressure: 500-event bounded queue per subscriber. Slow consumers get oldest events dropped.</a:t>
            </a:r>
          </a:p>
          <a:p>
            <a:r>
              <a:t>- Dead subscribers auto-cleaned — no resource leaks.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Streaming data to agents raises the question: who's allowed to see what?</a:t>
            </a:r>
          </a:p>
          <a:p>
            <a:r>
              <a:t>- Cedar is open-source, now adopted in MCP ecosystem (Bedrock AgentCore, ToolHive).</a:t>
            </a:r>
          </a:p>
          <a:p>
            <a:r>
              <a:t>- Simple model: permit/forbid(principal, action, resource).</a:t>
            </a:r>
          </a:p>
          <a:p>
            <a:r>
              <a:t>- MCP actions: subscribe, get_anomalies, get_context, call_tool. Resources: streams like 'app-logs'.</a:t>
            </a:r>
          </a:p>
          <a:p>
            <a:r>
              <a:t>- Default deny — no matching policy = blocked. Secure by default.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Real Cedar policies from our demo.</a:t>
            </a:r>
          </a:p>
          <a:p>
            <a:r>
              <a:t>- First: anyone can subscribe to app-logs (general observability).</a:t>
            </a:r>
          </a:p>
          <a:p>
            <a:r>
              <a:t>- Second: only ops-agents can call get_anomalies (expensive operation).</a:t>
            </a:r>
          </a:p>
          <a:p>
            <a:r>
              <a:t>- Third: readonly agents explicitly forbidden from audit-logs (compliance data).</a:t>
            </a:r>
          </a:p>
          <a:p>
            <a:r>
              <a:t>- Forbid ALWAYS wins over permit. Human-readable, auditable, version-controllable.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Stack: Confluent Kafka 7.6.0 in Docker, Python 3.9, confluent-kafka 2.13.2, websockets 15.0.1.</a:t>
            </a:r>
          </a:p>
          <a:p>
            <a:r>
              <a:t>- Log simulator generates realistic logs, pushes to Kafka. MCP server consumes and pushes to agents.</a:t>
            </a:r>
          </a:p>
          <a:p>
            <a:r>
              <a:t>- Normal traffic flows first. Then error spike hits.</a:t>
            </a:r>
          </a:p>
          <a:p>
            <a:r>
              <a:t>- Agent detected 'ANOMALY DETECTED — error rate 60% in last 20 events' within 1 second.</a:t>
            </a:r>
          </a:p>
          <a:p>
            <a:r>
              <a:t>- Automatic fixes: ConnectionRefused → check service; OOM → increase heap; Timeout → circuit breaker.</a:t>
            </a:r>
          </a:p>
          <a:p>
            <a:r>
              <a:t>- End-to-end: error to fix suggestion under 2 seconds.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Server-side: rolling 100-event window for stable baseline.</a:t>
            </a:r>
          </a:p>
          <a:p>
            <a:r>
              <a:t>- Agent-side: sliding 20-event window, 30% threshold triggers alert.</a:t>
            </a:r>
          </a:p>
          <a:p>
            <a:r>
              <a:t>- Bar chart: green = normal, red = above threshold, orange line = trigger.</a:t>
            </a:r>
          </a:p>
          <a:p>
            <a:r>
              <a:t>- Agent calls get_anomalies() for structured summary with top-N error patterns.</a:t>
            </a:r>
          </a:p>
          <a:p>
            <a:r>
              <a:t>- Error → remediation mapping: ConnectionRefused → check connectivity; OOM → increase heap; SSL → renew certs.</a:t>
            </a:r>
          </a:p>
          <a:p>
            <a:r>
              <a:t>- All within 1-2 seconds. Compare to the 11-minute blind spot.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Backpressure: 500-event asyncio queue per subscriber. Full = drop oldest. Consider dead-letter topics.</a:t>
            </a:r>
          </a:p>
          <a:p>
            <a:r>
              <a:t>- Hybrid protocol: don't force everything into one model. Subscribe for live feeds, query for summaries.</a:t>
            </a:r>
          </a:p>
          <a:p>
            <a:r>
              <a:t>- Consumer groups: same group ID = load balance (one consumer per event). Different = fan-out (all get every event).</a:t>
            </a:r>
          </a:p>
          <a:p>
            <a:r>
              <a:t>- Reconnection: exponential backoff to avoid thundering herd. Context snapshot on reconnect.</a:t>
            </a:r>
          </a:p>
          <a:p>
            <a:r>
              <a:t>- Be selective: stream errors and anomalies. Batch normal INFO metrics. Don't flood the pipe.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DevOps: what we demoed. Real-time incident detection, automated triage.</a:t>
            </a:r>
          </a:p>
          <a:p>
            <a:r>
              <a:t>- Trading: live market data, latency matters, polling is not an option.</a:t>
            </a:r>
          </a:p>
          <a:p>
            <a:r>
              <a:t>- Security: audit logs with Cedar access control. SOC agent gets alerts; readonly gets summaries.</a:t>
            </a:r>
          </a:p>
          <a:p>
            <a:r>
              <a:t>- CI/CD: file watchers trigger agents on code changes. Auto-test, security check, update docs.</a:t>
            </a:r>
          </a:p>
          <a:p>
            <a:r>
              <a:t>- IoT: sensor data to predictive maintenance. Detect anomalies before equipment fails.</a:t>
            </a:r>
          </a:p>
          <a:p>
            <a:r>
              <a:t>- Common thread: any domain where waiting to be asked is too slow.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MCP is extensible beyond request/response. Streaming is a natural extension.</a:t>
            </a:r>
          </a:p>
          <a:p>
            <a:r>
              <a:t>- Kafka + WebSocket: battle-tested, widely deployed, well-understood.</a:t>
            </a:r>
          </a:p>
          <a:p>
            <a:r>
              <a:t>- Cedar: declarative, auditable policies. Default deny = start secure, open up explicitly.</a:t>
            </a:r>
          </a:p>
          <a:p>
            <a:r>
              <a:t>- Hybrid push + pull on one connection is the key design decision.</a:t>
            </a:r>
          </a:p>
          <a:p>
            <a:r>
              <a:t>- The diagram shows Kafka + WebSocket + Cedar converging into the streaming MCP server.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Complete working code on GitHub: github.com/hakohli/mcp-streaming-demo</a:t>
            </a:r>
          </a:p>
          <a:p>
            <a:r>
              <a:t>- Stack: Confluent Kafka 7.6.0, Cedar, WebSockets 15.0.1, Python 3.9+.</a:t>
            </a:r>
          </a:p>
          <a:p>
            <a:r>
              <a:t>- To run: docker compose up -d, then streaming_mcp_server.py, log_simulator.py, agent_client.py.</a:t>
            </a:r>
          </a:p>
          <a:p>
            <a:r>
              <a:t>- Happy to take questions on architecture, Cedar policies, Kafka integration.</a:t>
            </a:r>
          </a:p>
          <a:p>
            <a:r>
              <a:t>- Interested in contributing? SSE transport, multi-topic subscriptions, persistent agent state — let's talk.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row is a stream the insurer already has. The agent's job is the same in every row: notice fast, explain the impact, route to the right owner, recommend steps.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Qualitative benefits — measure your own baseline (time-to-detect, cycle time, LAE, leakage) before and after a pilot.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0"/>
          <p:cNvPicPr preferRelativeResize="0"/>
          <p:nvPr/>
        </p:nvPicPr>
        <p:blipFill rotWithShape="1">
          <a:blip r:embed="rId2">
            <a:alphaModFix/>
          </a:blip>
          <a:srcRect b="20485" l="9638" r="11088" t="34584"/>
          <a:stretch/>
        </p:blipFill>
        <p:spPr>
          <a:xfrm>
            <a:off x="6152321" y="0"/>
            <a:ext cx="299167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0"/>
          <p:cNvSpPr txBox="1"/>
          <p:nvPr>
            <p:ph type="ctrTitle"/>
          </p:nvPr>
        </p:nvSpPr>
        <p:spPr>
          <a:xfrm>
            <a:off x="311215" y="1251446"/>
            <a:ext cx="8010201" cy="2024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" type="subTitle"/>
          </p:nvPr>
        </p:nvSpPr>
        <p:spPr>
          <a:xfrm>
            <a:off x="311214" y="3275884"/>
            <a:ext cx="8010201" cy="609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" name="Google Shape;13;p10" title="mcpdevsummit_na26_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850" y="0"/>
            <a:ext cx="1932875" cy="11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1"/>
          <p:cNvPicPr preferRelativeResize="0"/>
          <p:nvPr/>
        </p:nvPicPr>
        <p:blipFill rotWithShape="1">
          <a:blip r:embed="rId2">
            <a:alphaModFix/>
          </a:blip>
          <a:srcRect b="20485" l="9638" r="11088" t="34584"/>
          <a:stretch/>
        </p:blipFill>
        <p:spPr>
          <a:xfrm>
            <a:off x="6152321" y="0"/>
            <a:ext cx="299167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1"/>
          <p:cNvSpPr txBox="1"/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7" name="Google Shape;17;p11" title="mcpdevsummit_na26_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50" y="4443600"/>
            <a:ext cx="1217200" cy="74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051932">
            <a:alpha val="0"/>
          </a:srgbClr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283600" y="460176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12"/>
          <p:cNvSpPr/>
          <p:nvPr/>
        </p:nvSpPr>
        <p:spPr>
          <a:xfrm>
            <a:off x="0" y="0"/>
            <a:ext cx="9144000" cy="1020588"/>
          </a:xfrm>
          <a:prstGeom prst="rect">
            <a:avLst/>
          </a:prstGeom>
          <a:solidFill>
            <a:srgbClr val="0518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23759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23" name="Google Shape;23;p12" title="mcpdevsummit_na26_col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1100" y="4475749"/>
            <a:ext cx="1173250" cy="71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1_Title and body">
    <p:bg>
      <p:bgPr>
        <a:solidFill>
          <a:srgbClr val="051932">
            <a:alpha val="0"/>
          </a:srgbClr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/>
          <p:nvPr/>
        </p:nvSpPr>
        <p:spPr>
          <a:xfrm>
            <a:off x="0" y="0"/>
            <a:ext cx="9144000" cy="1020588"/>
          </a:xfrm>
          <a:prstGeom prst="rect">
            <a:avLst/>
          </a:prstGeom>
          <a:solidFill>
            <a:srgbClr val="0518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283600" y="460176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13"/>
          <p:cNvSpPr txBox="1"/>
          <p:nvPr>
            <p:ph type="title"/>
          </p:nvPr>
        </p:nvSpPr>
        <p:spPr>
          <a:xfrm>
            <a:off x="177900" y="22394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" type="body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29" name="Google Shape;29;p13" title="mcpdevsummit_na26_revers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45225" y="106175"/>
            <a:ext cx="1317525" cy="80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051932">
            <a:alpha val="0"/>
          </a:srgbClr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/>
          <p:nvPr/>
        </p:nvSpPr>
        <p:spPr>
          <a:xfrm>
            <a:off x="0" y="0"/>
            <a:ext cx="9144000" cy="1020588"/>
          </a:xfrm>
          <a:prstGeom prst="rect">
            <a:avLst/>
          </a:prstGeom>
          <a:solidFill>
            <a:srgbClr val="0518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4"/>
          <p:cNvSpPr txBox="1"/>
          <p:nvPr>
            <p:ph idx="1" type="body"/>
          </p:nvPr>
        </p:nvSpPr>
        <p:spPr>
          <a:xfrm>
            <a:off x="3117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4"/>
          <p:cNvSpPr txBox="1"/>
          <p:nvPr>
            <p:ph idx="2" type="body"/>
          </p:nvPr>
        </p:nvSpPr>
        <p:spPr>
          <a:xfrm>
            <a:off x="48324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283600" y="460176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14"/>
          <p:cNvSpPr txBox="1"/>
          <p:nvPr>
            <p:ph type="title"/>
          </p:nvPr>
        </p:nvSpPr>
        <p:spPr>
          <a:xfrm>
            <a:off x="311700" y="23759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6" name="Google Shape;36;p14" title="mcpdevsummit_na26_col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1100" y="4475749"/>
            <a:ext cx="1173250" cy="71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051932">
            <a:alpha val="0"/>
          </a:srgbClr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/>
          <p:nvPr/>
        </p:nvSpPr>
        <p:spPr>
          <a:xfrm>
            <a:off x="0" y="0"/>
            <a:ext cx="9144000" cy="1020588"/>
          </a:xfrm>
          <a:prstGeom prst="rect">
            <a:avLst/>
          </a:prstGeom>
          <a:solidFill>
            <a:srgbClr val="0518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283600" y="460176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15"/>
          <p:cNvSpPr txBox="1"/>
          <p:nvPr>
            <p:ph type="title"/>
          </p:nvPr>
        </p:nvSpPr>
        <p:spPr>
          <a:xfrm>
            <a:off x="311700" y="23759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" name="Google Shape;41;p15" title="mcpdevsummit_na26_col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1100" y="4475749"/>
            <a:ext cx="1173250" cy="71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051932">
            <a:alpha val="0"/>
          </a:srgbClr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283600" y="460176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" name="Google Shape;44;p16" title="mcpdevsummit_na26_col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1100" y="4475749"/>
            <a:ext cx="1173250" cy="71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Logo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7"/>
          <p:cNvPicPr preferRelativeResize="0"/>
          <p:nvPr/>
        </p:nvPicPr>
        <p:blipFill rotWithShape="1">
          <a:blip r:embed="rId2">
            <a:alphaModFix/>
          </a:blip>
          <a:srcRect b="20485" l="9638" r="11088" t="34584"/>
          <a:stretch/>
        </p:blipFill>
        <p:spPr>
          <a:xfrm>
            <a:off x="6152321" y="0"/>
            <a:ext cx="299167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7" title="mcpdevsummit_na26_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875" y="1043450"/>
            <a:ext cx="4059800" cy="24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1_Section 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8"/>
          <p:cNvPicPr preferRelativeResize="0"/>
          <p:nvPr/>
        </p:nvPicPr>
        <p:blipFill rotWithShape="1">
          <a:blip r:embed="rId2">
            <a:alphaModFix/>
          </a:blip>
          <a:srcRect b="20485" l="9638" r="11088" t="34584"/>
          <a:stretch/>
        </p:blipFill>
        <p:spPr>
          <a:xfrm>
            <a:off x="6152321" y="0"/>
            <a:ext cx="299167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8"/>
          <p:cNvSpPr txBox="1"/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1" name="Google Shape;51;p18" title="mcpdevsummit_na26_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075" y="4069625"/>
            <a:ext cx="1852575" cy="113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5193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spcAft>
                <a:spcPts val="0"/>
              </a:spcAft>
            </a:pPr>
            <a:r>
              <a:rPr sz="3000"/>
              <a:t>MCP Pulse for Auto Insurance</a:t>
            </a:r>
          </a:p>
          <a:p>
            <a:pPr>
              <a:spcAft>
                <a:spcPts val="0"/>
              </a:spcAft>
            </a:pPr>
            <a:r>
              <a:rPr sz="3000"/>
              <a:t>Streaming Claims Context</a:t>
            </a:r>
          </a:p>
          <a:p>
            <a:pPr>
              <a:spcAft>
                <a:spcPts val="0"/>
              </a:spcAft>
            </a:pPr>
            <a:r>
              <a:rPr sz="3000"/>
              <a:t>to AI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/>
              <a:t>Real-time FNOL, fraud &amp; platform-incident intelligence with Kafka, WebSockets, Cedar &amp; LLMs</a:t>
            </a:r>
          </a:p>
          <a:p>
            <a:pPr>
              <a:spcAft>
                <a:spcPts val="600"/>
              </a:spcAft>
            </a:pPr>
            <a:r>
              <a:rPr sz="1400"/>
              <a:t>github.com/hakohli/mcp-pulse  ·  branch: usecase/auto-insurance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— Claims &amp; Telematics Platform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975" y="1005840"/>
            <a:ext cx="7002049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400"/>
            </a:pPr>
            <a:r>
              <a:rPr sz="1400"/>
              <a:t>Claims &amp; telematics platforms are still watched through dashboards and batch reports</a:t>
            </a:r>
          </a:p>
          <a:p>
            <a:pPr>
              <a:spcAft>
                <a:spcPts val="600"/>
              </a:spcAft>
            </a:pPr>
            <a:r>
              <a:rPr sz="1400"/>
              <a:t>2:03 pm hail hits DFW → 2:10 pm FNOL volume 14× → next-morning ops report</a:t>
            </a:r>
          </a:p>
          <a:p>
            <a:pPr>
              <a:spcAft>
                <a:spcPts val="600"/>
              </a:spcAft>
            </a:pPr>
            <a:r>
              <a:rPr sz="1400"/>
              <a:t>Payout failures and fraud rings often surface days later, in reconciliation</a:t>
            </a:r>
          </a:p>
          <a:p>
            <a:pPr>
              <a:spcAft>
                <a:spcPts val="600"/>
              </a:spcAft>
            </a:pPr>
            <a:r>
              <a:rPr sz="1400"/>
              <a:t>What if claims context came TO the agent, as it happened?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Stale Context Problem in Claims</a:t>
            </a:r>
          </a:p>
        </p:txBody>
      </p:sp>
      <p:pic>
        <p:nvPicPr>
          <p:cNvPr id="5" name="Picture 4" descr="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013902"/>
            <a:ext cx="4023360" cy="1641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400"/>
            </a:pPr>
            <a:r>
              <a:rPr sz="1400"/>
              <a:t>Standard MCP: agent pulls claim / telematics snapshots (pull)</a:t>
            </a:r>
          </a:p>
          <a:p>
            <a:pPr>
              <a:spcAft>
                <a:spcPts val="600"/>
              </a:spcAft>
            </a:pPr>
            <a:r>
              <a:rPr sz="1400"/>
              <a:t>Streaming MCP: FNOL, telematics, fraud and payout events pushed as they happen</a:t>
            </a:r>
          </a:p>
          <a:p>
            <a:pPr>
              <a:spcAft>
                <a:spcPts val="600"/>
              </a:spcAft>
            </a:pPr>
            <a:r>
              <a:rPr sz="1400"/>
              <a:t>Why Kafka: durable and replayable — already the backbone of many telematics pipelines</a:t>
            </a:r>
          </a:p>
          <a:p>
            <a:pPr>
              <a:spcAft>
                <a:spcPts val="600"/>
              </a:spcAft>
            </a:pPr>
            <a:r>
              <a:rPr sz="1400"/>
              <a:t>Hybrid: live push + on-demand queries on one connection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Streaming MCP for Insurers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400"/>
            </a:pPr>
            <a:r>
              <a:rPr sz="1400"/>
              <a:t>subscribe / unsubscribe to the insurance-events stream for continuous push</a:t>
            </a:r>
          </a:p>
          <a:p>
            <a:pPr>
              <a:spcAft>
                <a:spcPts val="600"/>
              </a:spcAft>
            </a:pPr>
            <a:r>
              <a:rPr sz="1400"/>
              <a:t>get_anomalies, get_context answer the LLM's tool calls mid-stream</a:t>
            </a:r>
          </a:p>
          <a:p>
            <a:pPr>
              <a:spcAft>
                <a:spcPts val="600"/>
              </a:spcAft>
            </a:pPr>
            <a:r>
              <a:rPr sz="1400"/>
              <a:t>Every tool result is PII-redacted before it reaches the model</a:t>
            </a:r>
          </a:p>
          <a:p>
            <a:pPr>
              <a:spcAft>
                <a:spcPts val="600"/>
              </a:spcAft>
            </a:pPr>
            <a:r>
              <a:rPr sz="1400"/>
              <a:t>Bounded queues (500 events) absorb CAT-surge backpressure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Protocol Extension: subscribe</a:t>
            </a:r>
          </a:p>
        </p:txBody>
      </p:sp>
      <p:pic>
        <p:nvPicPr>
          <p:cNvPr id="5" name="Picture 4" descr="sequ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582928"/>
            <a:ext cx="4023359" cy="25034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400"/>
            </a:pPr>
            <a:r>
              <a:rPr sz="1300"/>
              <a:t>Open-source policy language by AWS: permit / forbid(principal, action, resource)</a:t>
            </a:r>
          </a:p>
          <a:p>
            <a:pPr>
              <a:spcAft>
                <a:spcPts val="600"/>
              </a:spcAft>
            </a:pPr>
            <a:r>
              <a:rPr sz="1300"/>
              <a:t>ai-agent: anomaly summaries + redacted event context</a:t>
            </a:r>
          </a:p>
          <a:p>
            <a:pPr>
              <a:spcAft>
                <a:spcPts val="600"/>
              </a:spcAft>
            </a:pPr>
            <a:r>
              <a:rPr sz="1300"/>
              <a:t>claims-ops: summaries  ·  siu-analyst: full event context</a:t>
            </a:r>
          </a:p>
          <a:p>
            <a:pPr>
              <a:spcAft>
                <a:spcPts val="600"/>
              </a:spcAft>
            </a:pPr>
            <a:r>
              <a:rPr sz="1300"/>
              <a:t>ai-agent is forbidden from the raw claimant-PII stream</a:t>
            </a:r>
          </a:p>
          <a:p>
            <a:pPr>
              <a:spcAft>
                <a:spcPts val="600"/>
              </a:spcAft>
            </a:pPr>
            <a:r>
              <a:rPr sz="1300"/>
              <a:t>Default deny — and forbid always wins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Cedar Authorization for Insurance Roles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Cedar Policy Examples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400"/>
            </a:pPr>
            <a:r>
              <a:rPr sz="1250">
                <a:latin typeface="Menlo"/>
              </a:rPr>
              <a:t>permit(principal, action == Action::"subscribe", resource == Stream::"insurance-events");</a:t>
            </a:r>
          </a:p>
          <a:p>
            <a:pPr>
              <a:spcAft>
                <a:spcPts val="600"/>
              </a:spcAft>
            </a:pPr>
            <a:r>
              <a:rPr sz="1250">
                <a:latin typeface="Menlo"/>
              </a:rPr>
              <a:t>permit(principal, action == Action::"get_context", resource)</a:t>
            </a:r>
            <a:br/>
            <a:r>
              <a:rPr sz="1250">
                <a:latin typeface="Menlo"/>
              </a:rPr>
              <a:t>    when { principal.role == "siu-analyst" };</a:t>
            </a:r>
          </a:p>
          <a:p>
            <a:pPr>
              <a:spcAft>
                <a:spcPts val="600"/>
              </a:spcAft>
            </a:pPr>
            <a:r>
              <a:rPr sz="1250">
                <a:latin typeface="Menlo"/>
              </a:rPr>
              <a:t>permit(principal, action == Action::"get_anomalies", resource)</a:t>
            </a:r>
            <a:br/>
            <a:r>
              <a:rPr sz="1250">
                <a:latin typeface="Menlo"/>
              </a:rPr>
              <a:t>    when { principal.role == "claims-ops" };</a:t>
            </a:r>
          </a:p>
          <a:p>
            <a:pPr>
              <a:spcAft>
                <a:spcPts val="600"/>
              </a:spcAft>
            </a:pPr>
            <a:r>
              <a:rPr sz="1250">
                <a:latin typeface="Menlo"/>
              </a:rPr>
              <a:t>forbid(principal, action == Action::"subscribe", resource == Stream::"claimant-pii")</a:t>
            </a:r>
            <a:br/>
            <a:r>
              <a:rPr sz="1250">
                <a:latin typeface="Menlo"/>
              </a:rPr>
              <a:t>    when { principal.role == "ai-agent" };</a:t>
            </a:r>
          </a:p>
          <a:p>
            <a:r>
              <a:rPr sz="1400" b="1"/>
              <a:t>Forbid always wins — the AI agent can never read raw claimant PII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400"/>
            </a:pPr>
            <a:r>
              <a:rPr sz="1300"/>
              <a:t>Simulated claims &amp; telematics platform → Kafka → MCP server → AI agent</a:t>
            </a:r>
          </a:p>
          <a:p>
            <a:pPr>
              <a:spcAft>
                <a:spcPts val="600"/>
              </a:spcAft>
            </a:pPr>
            <a:r>
              <a:rPr sz="1300"/>
              <a:t>7 incidents: outages, vendor failure, bad deploy, CAT surge, fraud ring</a:t>
            </a:r>
          </a:p>
          <a:p>
            <a:pPr>
              <a:spcAft>
                <a:spcPts val="600"/>
              </a:spcAft>
            </a:pPr>
            <a:r>
              <a:rPr sz="1300"/>
              <a:t>Spike detected in &lt; 1 s; the LLM diagnoses in seconds</a:t>
            </a:r>
          </a:p>
          <a:p>
            <a:pPr>
              <a:spcAft>
                <a:spcPts val="600"/>
              </a:spcAft>
            </a:pPr>
            <a:r>
              <a:rPr sz="1300"/>
              <a:t>Output: root cause, business impact, owner, next steps</a:t>
            </a:r>
          </a:p>
          <a:p>
            <a:pPr>
              <a:spcAft>
                <a:spcPts val="600"/>
              </a:spcAft>
            </a:pPr>
            <a:r>
              <a:rPr sz="1300"/>
              <a:t>Try it: make demo  ·  --scenario staged_accident_ring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Demo: Real-time Claims &amp; Telematics Monitoring</a:t>
            </a:r>
          </a:p>
        </p:txBody>
      </p:sp>
      <p:pic>
        <p:nvPicPr>
          <p:cNvPr id="5" name="Picture 4" descr="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124362"/>
            <a:ext cx="4023360" cy="14205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400"/>
            </a:pPr>
            <a:r>
              <a:rPr sz="1300"/>
              <a:t>Server keeps a rolling 100-event window; IDs are normalized so errors group</a:t>
            </a:r>
          </a:p>
          <a:p>
            <a:pPr>
              <a:spcAft>
                <a:spcPts val="600"/>
              </a:spcAft>
            </a:pPr>
            <a:r>
              <a:rPr sz="1300"/>
              <a:t>Agent's 20-event window: &gt; 30% errors triggers the LLM</a:t>
            </a:r>
          </a:p>
          <a:p>
            <a:pPr>
              <a:spcAft>
                <a:spcPts val="600"/>
              </a:spcAft>
            </a:pPr>
            <a:r>
              <a:rPr sz="1300"/>
              <a:t>Cooldown caps LLM calls — cost stays flat even during a CAT surge</a:t>
            </a:r>
          </a:p>
          <a:p>
            <a:pPr>
              <a:spcAft>
                <a:spcPts val="600"/>
              </a:spcAft>
            </a:pPr>
            <a:r>
              <a:rPr sz="1300"/>
              <a:t>LLM pulls context + runbooks, then recommends; humans decide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Anomaly Detection → AI Diagnosis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Patterns &amp; Gotchas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600"/>
            </a:pPr>
            <a:r>
              <a:rPr sz="1300"/>
              <a:t>1. Backpressure: bounded queues, drop slow subscribers</a:t>
            </a:r>
          </a:p>
          <a:p>
            <a:pPr>
              <a:spcAft>
                <a:spcPts val="600"/>
              </a:spcAft>
            </a:pPr>
            <a:r>
              <a:rPr sz="1300"/>
              <a:t>2. Hybrid protocol: streaming AND on-demand on the same WebSocket</a:t>
            </a:r>
          </a:p>
          <a:p>
            <a:pPr>
              <a:spcAft>
                <a:spcPts val="600"/>
              </a:spcAft>
            </a:pPr>
            <a:r>
              <a:rPr sz="1300"/>
              <a:t>3. Kafka consumer groups: same = load balance, different = fan-out</a:t>
            </a:r>
          </a:p>
          <a:p>
            <a:pPr>
              <a:spcAft>
                <a:spcPts val="600"/>
              </a:spcAft>
            </a:pPr>
            <a:r>
              <a:rPr sz="1300"/>
              <a:t>4. Reconnection: exponential backoff + context snapshot</a:t>
            </a:r>
          </a:p>
          <a:p>
            <a:pPr>
              <a:spcAft>
                <a:spcPts val="600"/>
              </a:spcAft>
            </a:pPr>
            <a:r>
              <a:rPr sz="1300"/>
              <a:t>5. Be selective: stream errors &amp; anomalies, batch normal metrics</a:t>
            </a:r>
          </a:p>
          <a:p>
            <a:pPr>
              <a:spcAft>
                <a:spcPts val="600"/>
              </a:spcAft>
            </a:pPr>
            <a:r>
              <a:rPr sz="1300"/>
              <a:t>6. Redact PII before the LLM; keep the agent read-only</a:t>
            </a:r>
          </a:p>
          <a:p>
            <a:pPr>
              <a:spcAft>
                <a:spcPts val="600"/>
              </a:spcAft>
            </a:pPr>
            <a:r>
              <a:rPr sz="1300"/>
              <a:t>7. Separate technical faults from business anomalies — different owners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400"/>
            </a:pPr>
            <a:r>
              <a:rPr sz="1300"/>
              <a:t>FNOL automation — crash events to claims in seconds</a:t>
            </a:r>
          </a:p>
          <a:p>
            <a:pPr>
              <a:spcAft>
                <a:spcPts val="600"/>
              </a:spcAft>
            </a:pPr>
            <a:r>
              <a:rPr sz="1300"/>
              <a:t>Fraud / SIU — ring signals surfaced as they form</a:t>
            </a:r>
          </a:p>
          <a:p>
            <a:pPr>
              <a:spcAft>
                <a:spcPts val="600"/>
              </a:spcAft>
            </a:pPr>
            <a:r>
              <a:rPr sz="1300"/>
              <a:t>CAT response — regional surges detected at onset</a:t>
            </a:r>
          </a:p>
          <a:p>
            <a:pPr>
              <a:spcAft>
                <a:spcPts val="600"/>
              </a:spcAft>
            </a:pPr>
            <a:r>
              <a:rPr sz="1300"/>
              <a:t>UBI telematics — data gaps flagged before pricing</a:t>
            </a:r>
          </a:p>
          <a:p>
            <a:pPr>
              <a:spcAft>
                <a:spcPts val="600"/>
              </a:spcAft>
            </a:pPr>
            <a:r>
              <a:rPr sz="1300"/>
              <a:t>Claims payouts — failures tied to their cause</a:t>
            </a:r>
          </a:p>
          <a:p>
            <a:pPr>
              <a:spcAft>
                <a:spcPts val="600"/>
              </a:spcAft>
            </a:pPr>
            <a:r>
              <a:rPr sz="1300"/>
              <a:t>Platform SRE — autonomous triage across 8 services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Streaming MCP Unlocks for Auto Insurers</a:t>
            </a:r>
          </a:p>
        </p:txBody>
      </p:sp>
      <p:pic>
        <p:nvPicPr>
          <p:cNvPr id="5" name="Picture 4" descr="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810512"/>
            <a:ext cx="4023360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400"/>
            </a:pPr>
            <a:r>
              <a:rPr sz="1300"/>
              <a:t>Claims context goes stale in minutes — stream it to the agent</a:t>
            </a:r>
          </a:p>
          <a:p>
            <a:pPr>
              <a:spcAft>
                <a:spcPts val="600"/>
              </a:spcAft>
            </a:pPr>
            <a:r>
              <a:rPr sz="1300"/>
              <a:t>Kafka + WebSocket: a durable, push-based bridge into MCP</a:t>
            </a:r>
          </a:p>
          <a:p>
            <a:pPr>
              <a:spcAft>
                <a:spcPts val="600"/>
              </a:spcAft>
            </a:pPr>
            <a:r>
              <a:rPr sz="1300"/>
              <a:t>LLM + runbooks: root cause, impact, owner and next steps in seconds</a:t>
            </a:r>
          </a:p>
          <a:p>
            <a:pPr>
              <a:spcAft>
                <a:spcPts val="600"/>
              </a:spcAft>
            </a:pPr>
            <a:r>
              <a:rPr sz="1300"/>
              <a:t>Cedar + PII redaction + read-only tools: governance by design</a:t>
            </a:r>
          </a:p>
          <a:p>
            <a:pPr>
              <a:spcAft>
                <a:spcPts val="600"/>
              </a:spcAft>
            </a:pPr>
            <a:r>
              <a:rPr sz="1300"/>
              <a:t>Open source, Python 3.9+, runs offline with make 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pic>
        <p:nvPicPr>
          <p:cNvPr id="5" name="Picture 4" descr="takeaway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995221"/>
            <a:ext cx="4023360" cy="16788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 &amp; 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/>
              <a:t>github.com/hakohli/mcp-pulse  ·  branch: usecase/auto-insurance</a:t>
            </a:r>
          </a:p>
          <a:p>
            <a:pPr>
              <a:spcAft>
                <a:spcPts val="600"/>
              </a:spcAft>
            </a:pPr>
            <a:r>
              <a:rPr sz="1400"/>
              <a:t>Synthetic data only  ·  Kafka · Cedar · WebSockets · LLMs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 Insurance Use Cases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51560"/>
          <a:ext cx="8595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737360"/>
                <a:gridCol w="3931920"/>
                <a:gridCol w="12801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Use case</a:t>
                      </a:r>
                    </a:p>
                  </a:txBody>
                  <a:tcPr marL="54864" marR="54864" marT="27432" marB="27432">
                    <a:solidFill>
                      <a:srgbClr val="2A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Streaming signal</a:t>
                      </a:r>
                    </a:p>
                  </a:txBody>
                  <a:tcPr marL="54864" marR="54864" marT="27432" marB="27432">
                    <a:solidFill>
                      <a:srgbClr val="2A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the AI agent does</a:t>
                      </a:r>
                    </a:p>
                  </a:txBody>
                  <a:tcPr marL="54864" marR="54864" marT="27432" marB="27432">
                    <a:solidFill>
                      <a:srgbClr val="2A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54864" marR="54864" marT="27432" marB="27432">
                    <a:solidFill>
                      <a:srgbClr val="2A2A4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A2A4A"/>
                          </a:solidFill>
                        </a:rPr>
                        <a:t>Crash-triggered FNOL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Telematics impact events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Detects stalled auto-FNOL; routes crash alerts to manual intake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Claims ops · SRE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A2A4A"/>
                          </a:solidFill>
                        </a:rPr>
                        <a:t>Catastrophe response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FNOL volume by region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Spots the surge at onset; recommends activating the CAT plan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CAT team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A2A4A"/>
                          </a:solidFill>
                        </a:rPr>
                        <a:t>Fraud / SIU triage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Fraud scores, link analysis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Summarizes ring signals; recommends SIU referral (never auto-deny)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SIU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A2A4A"/>
                          </a:solidFill>
                        </a:rPr>
                        <a:t>Claims cycle time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Estimate &amp; vendor calls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Catches vendor / estimate failures before backlogs build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Vendor mgmt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A2A4A"/>
                          </a:solidFill>
                        </a:rPr>
                        <a:t>Payout reliability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Payment batches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Ties payout rejections to the deploy that caused them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Payments eng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A2A4A"/>
                          </a:solidFill>
                        </a:rPr>
                        <a:t>UBI pricing integrity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Trip ingestion, rating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Flags telematics gaps before premiums use partial data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Data · SRE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Scenarios in the Demo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51560"/>
          <a:ext cx="8595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822960"/>
                <a:gridCol w="1828800"/>
                <a:gridCol w="329184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 marL="54864" marR="54864" marT="27432" marB="27432">
                    <a:solidFill>
                      <a:srgbClr val="2A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L="54864" marR="54864" marT="27432" marB="27432">
                    <a:solidFill>
                      <a:srgbClr val="2A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54864" marR="54864" marT="27432" marB="27432">
                    <a:solidFill>
                      <a:srgbClr val="2A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First recommended step</a:t>
                      </a:r>
                    </a:p>
                  </a:txBody>
                  <a:tcPr marL="54864" marR="54864" marT="27432" marB="27432">
                    <a:solidFill>
                      <a:srgbClr val="2A2A4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2A4A"/>
                          </a:solidFill>
                        </a:rPr>
                        <a:t>Telematics ingestion outage starves crash detection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platform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Platform SRE on-call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Check broker health and partition leadership for telematics-raw topics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2A4A"/>
                          </a:solidFill>
                        </a:rPr>
                        <a:t>Policy database connection pool exhausted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platform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Platform SRE on-call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Identify long-running/leaked connections on policy-db-primary and kill them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2A4A"/>
                          </a:solidFill>
                        </a:rPr>
                        <a:t>Fraud-scoring model endpoint down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platform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ML platform / model owners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Restore fraud-model-v7 capacity or roll back to the last healthy model version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2A4A"/>
                          </a:solidFill>
                        </a:rPr>
                        <a:t>Photo-estimate vendor integration failing (expired certificate)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third-party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Vendor management + integration engineering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Contact the vendor to renew the certificate (or update the pinned certificate if it was rotated)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2A4A"/>
                          </a:solidFill>
                        </a:rPr>
                        <a:t>Claim payouts rejected after a payments deploy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platform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Payments engineering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Roll back payments-service to v3.13.x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2A4A"/>
                          </a:solidFill>
                        </a:rPr>
                        <a:t>Catastrophe surge: hailstorm FNOL volume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business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Catastrophe (CAT) response team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Activate the catastrophe (CAT) response plan for the affected region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2A4A"/>
                          </a:solidFill>
                        </a:rPr>
                        <a:t>Suspected staged-accident fraud ring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fraud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Special Investigations Unit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Refer the linked claims to SIU for investigation (a human decision — never auto-deny)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55556A"/>
                </a:solidFill>
              </a:rPr>
              <a:t>Generated from mcp_streaming/domain/auto_insurance.py  ·  run one: python -m mcp_streaming.demo --scenario &lt;key&gt;   ·   --ai lets the LLM invent new ones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Diagnosis — Example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8595360" cy="3566160"/>
          </a:xfrm>
          <a:prstGeom prst="rect">
            <a:avLst/>
          </a:prstGeom>
          <a:solidFill>
            <a:srgbClr val="2A2A4A"/>
          </a:solidFill>
        </p:spPr>
        <p:txBody>
          <a:bodyPr wrap="square" lIns="137160" rIns="137160" tIns="91440" bIns="91440">
            <a:spAutoFit/>
          </a:bodyPr>
          <a:lstStyle/>
          <a:p>
            <a:r>
              <a:rPr sz="1050">
                <a:solidFill>
                  <a:srgbClr val="00D4AA"/>
                </a:solidFill>
                <a:latin typeface="Menlo"/>
              </a:rPr>
              <a:t>SPIKE  35% errors in last 20 events  -&gt;  LLM investigating...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+-- AI DIAGNOSIS ------------------------------------------------------------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| Severity    HIGH  (confidence 80%)  [platform]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| Root cause  payments-service v3.14.0 shipped an invalid bank originator configuration; the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|             bank gateway rejects every ACH payout batch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| Impact      Settled claims are not paid; customers wait for funds, raising complaint and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|             prompt-payment compliance risk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| Owner       Payments engineering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| Next steps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|   1. Roll back payments-service to v3.13.x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|   2. Fix and validate the originator configuration in staging before redeploying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|   3. Re-submit rejected payout batches and confirm with the bank gateway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|   4. Have claims ops notify affected claimants of the delay</a:t>
            </a:r>
          </a:p>
          <a:p>
            <a:r>
              <a:rPr sz="1050">
                <a:solidFill>
                  <a:srgbClr val="00D4AA"/>
                </a:solidFill>
                <a:latin typeface="Menlo"/>
              </a:rPr>
              <a:t>| Recommendations only - claim, coverage and fraud decisions stay with people.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+-----------------------------------------------------------------------------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55556A"/>
                </a:solidFill>
              </a:rPr>
              <a:t>Illustrative output for the payout-rejection scenario. A real LLM writes its own analysis after calling get_anomalies, get_context and search_runbooks.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/>
              <a:t>Faster first notice of loss and claim acknowledgement</a:t>
            </a:r>
          </a:p>
          <a:p>
            <a:pPr>
              <a:spcAft>
                <a:spcPts val="600"/>
              </a:spcAft>
            </a:pPr>
            <a:r>
              <a:rPr sz="1400"/>
              <a:t>Lower loss-adjustment expense: vendor and estimate failures caught early</a:t>
            </a:r>
          </a:p>
          <a:p>
            <a:pPr>
              <a:spcAft>
                <a:spcPts val="600"/>
              </a:spcAft>
            </a:pPr>
            <a:r>
              <a:rPr sz="1400"/>
              <a:t>Earlier fraud signals: less leakage, fewer false positives</a:t>
            </a:r>
          </a:p>
          <a:p>
            <a:pPr>
              <a:spcAft>
                <a:spcPts val="600"/>
              </a:spcAft>
            </a:pPr>
            <a:r>
              <a:rPr sz="1400"/>
              <a:t>CAT response triggered in minutes, not the next morning</a:t>
            </a:r>
          </a:p>
          <a:p>
            <a:pPr>
              <a:spcAft>
                <a:spcPts val="600"/>
              </a:spcAft>
            </a:pPr>
            <a:r>
              <a:rPr sz="1400"/>
              <a:t>Fewer delayed payouts and complaints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/>
              <a:t>Who benefits</a:t>
            </a:r>
          </a:p>
          <a:p>
            <a:pPr>
              <a:spcAft>
                <a:spcPts val="600"/>
              </a:spcAft>
            </a:pPr>
            <a:r>
              <a:rPr sz="1400"/>
              <a:t>Claims operations</a:t>
            </a:r>
          </a:p>
          <a:p>
            <a:pPr>
              <a:spcAft>
                <a:spcPts val="600"/>
              </a:spcAft>
            </a:pPr>
            <a:r>
              <a:rPr sz="1400"/>
              <a:t>Special Investigations Unit (SIU)</a:t>
            </a:r>
          </a:p>
          <a:p>
            <a:pPr>
              <a:spcAft>
                <a:spcPts val="600"/>
              </a:spcAft>
            </a:pPr>
            <a:r>
              <a:rPr sz="1400"/>
              <a:t>Catastrophe response</a:t>
            </a:r>
          </a:p>
          <a:p>
            <a:pPr>
              <a:spcAft>
                <a:spcPts val="600"/>
              </a:spcAft>
            </a:pPr>
            <a:r>
              <a:rPr sz="1400"/>
              <a:t>Payments &amp; platform engineering</a:t>
            </a:r>
          </a:p>
          <a:p>
            <a:pPr>
              <a:spcAft>
                <a:spcPts val="600"/>
              </a:spcAft>
            </a:pPr>
            <a:r>
              <a:rPr sz="1400"/>
              <a:t>Customer experience</a:t>
            </a:r>
          </a:p>
          <a:p>
            <a:pPr>
              <a:spcAft>
                <a:spcPts val="600"/>
              </a:spcAft>
            </a:pPr>
            <a:r>
              <a:rPr sz="1400"/>
              <a:t>Compliance &amp; audit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for Insurers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Governance, Privacy &amp; Compliance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/>
              <a:t>PII (email, phone, SSN, VIN, card) is redacted before any event reaches the LLM</a:t>
            </a:r>
          </a:p>
          <a:p>
            <a:pPr>
              <a:spcAft>
                <a:spcPts val="600"/>
              </a:spcAft>
            </a:pPr>
            <a:r>
              <a:rPr sz="1400"/>
              <a:t>Read-only agent: recommends; never approves or denies claims, changes coverage or accuses claimants</a:t>
            </a:r>
          </a:p>
          <a:p>
            <a:pPr>
              <a:spcAft>
                <a:spcPts val="600"/>
              </a:spcAft>
            </a:pPr>
            <a:r>
              <a:rPr sz="1400"/>
              <a:t>Cedar least-privilege roles; the AI agent is forbidden from the raw claimant-PII stream</a:t>
            </a:r>
          </a:p>
          <a:p>
            <a:pPr>
              <a:spcAft>
                <a:spcPts val="600"/>
              </a:spcAft>
            </a:pPr>
            <a:r>
              <a:rPr sz="1400"/>
              <a:t>Event content is treated as untrusted input (prompt-injection defense)</a:t>
            </a:r>
          </a:p>
          <a:p>
            <a:pPr>
              <a:spcAft>
                <a:spcPts val="600"/>
              </a:spcAft>
            </a:pPr>
            <a:r>
              <a:rPr sz="1400"/>
              <a:t>Model hosting fits your data boundary: Amazon Bedrock in-region, or self-hosted (Ollama / vLLM)</a:t>
            </a:r>
          </a:p>
          <a:p>
            <a:pPr>
              <a:spcAft>
                <a:spcPts val="600"/>
              </a:spcAft>
            </a:pPr>
            <a:r>
              <a:rPr sz="1400"/>
              <a:t>Production also needs: real authentication, audit logging, model-risk governance (e.g. the NAIC model bulletin on insurers' use of AI), state claim-handling and privacy rules — with your compliance team</a:t>
            </a:r>
          </a:p>
          <a:p>
            <a:pPr>
              <a:spcAft>
                <a:spcPts val="600"/>
              </a:spcAft>
            </a:pPr>
            <a:r>
              <a:rPr sz="1400"/>
              <a:t>This is a reference demo on synthetic data, not a production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SSNA24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00C1DB"/>
      </a:accent1>
      <a:accent2>
        <a:srgbClr val="0060FA"/>
      </a:accent2>
      <a:accent3>
        <a:srgbClr val="FFC800"/>
      </a:accent3>
      <a:accent4>
        <a:srgbClr val="BC37DE"/>
      </a:accent4>
      <a:accent5>
        <a:srgbClr val="FF3C64"/>
      </a:accent5>
      <a:accent6>
        <a:srgbClr val="009EFF"/>
      </a:accent6>
      <a:hlink>
        <a:srgbClr val="00C8B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