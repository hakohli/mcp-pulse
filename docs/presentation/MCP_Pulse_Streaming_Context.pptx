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3"/>
    <p:sldId id="257" r:id="rId12"/>
    <p:sldId id="258" r:id="rId11"/>
    <p:sldId id="259" r:id="rId10"/>
    <p:sldId id="260" r:id="rId9"/>
    <p:sldId id="261" r:id="rId8"/>
    <p:sldId id="262" r:id="rId7"/>
    <p:sldId id="263" r:id="rId6"/>
    <p:sldId id="264" r:id="rId21"/>
    <p:sldId id="265" r:id="rId22"/>
    <p:sldId id="266" r:id="rId23"/>
    <p:sldId id="267" r:id="rId24"/>
    <p:sldId id="268" r:id="rId25"/>
  </p:sldIdLst>
  <p:sldSz cy="5143500" cx="9144000"/>
  <p:notesSz cx="6858000" cy="9144000"/>
  <p:embeddedFontLst>
    <p:embeddedFont>
      <p:font typeface="Red Hat Display Black"/>
      <p:bold r:id="rId14"/>
      <p:boldItalic r:id="rId15"/>
    </p:embeddedFont>
    <p:embeddedFont>
      <p:font typeface="Red Hat Display Medium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0" roundtripDataSignature="AMtx7miH5YU2xRyVFFKnpn3nGuTppcj9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2.xml"/><Relationship Id="rId13" Type="http://schemas.openxmlformats.org/officeDocument/2006/relationships/slide" Target="slides/slide1.xml"/><Relationship Id="rId14" Type="http://schemas.openxmlformats.org/officeDocument/2006/relationships/font" Target="fonts/RedHatDisplayBlack-bold.fntdata"/><Relationship Id="rId15" Type="http://schemas.openxmlformats.org/officeDocument/2006/relationships/font" Target="fonts/RedHatDisplayBlack-boldItalic.fntdata"/><Relationship Id="rId16" Type="http://schemas.openxmlformats.org/officeDocument/2006/relationships/font" Target="fonts/RedHatDisplayMedium-regular.fntdata"/><Relationship Id="rId17" Type="http://schemas.openxmlformats.org/officeDocument/2006/relationships/font" Target="fonts/RedHatDisplayMedium-bold.fntdata"/><Relationship Id="rId18" Type="http://schemas.openxmlformats.org/officeDocument/2006/relationships/font" Target="fonts/RedHatDisplayMedium-italic.fntdata"/><Relationship Id="rId19" Type="http://schemas.openxmlformats.org/officeDocument/2006/relationships/font" Target="fonts/RedHatDisplayMedium-boldItalic.fntdata"/><Relationship Id="rId20" Type="http://customschemas.google.com/relationships/presentationmetadata" Target="metadata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Welcome everyone. Today we're extending MCP beyond request/response.</a:t>
            </a:r>
          </a:p>
          <a:p>
            <a:r>
              <a:t>- Core idea: what if MCP servers pushed real-time context to AI agents instead of waiting to be asked?</a:t>
            </a:r>
          </a:p>
          <a:p>
            <a:r>
              <a:t>- We'll walk through a working implementation using Kafka, WebSockets, and Cedar.</a:t>
            </a:r>
          </a:p>
          <a:p>
            <a:r>
              <a:t>- By the end, you'll see a live demo of an AI agent detecting a production incident in under 2 seconds.</a:t>
            </a:r>
          </a:p>
          <a:p>
            <a:r>
              <a:t>- Everything is open source and available in the repo.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This is the full system architecture. Let me walk through each component.</a:t>
            </a:r>
          </a:p>
          <a:p>
            <a:r>
              <a:t>- Left: Log Simulator generates realistic logs from five services. Every ~30s it triggers an error spike.</a:t>
            </a:r>
          </a:p>
          <a:p>
            <a:r>
              <a:t>- Center-left: Apache Kafka (Confluent 7.6.0, KRaft mode) provides durability, replayability, and decoupling.</a:t>
            </a:r>
          </a:p>
          <a:p>
            <a:r>
              <a:t>- Center: The Streaming MCP Server has four sub-components: Kafka Consumer (rolling 100-event window), Anomaly Detection (error pattern tracking), WebSocket Server on port 8765 (pushes to subscribers with 500-event bounded queues), and Cedar Policy Engine (permit/forbid on every action, default deny).</a:t>
            </a:r>
          </a:p>
          <a:p>
            <a:r>
              <a:t>- Right: AI Agent subscribes once, runs a 20-event sliding window, flags anomalies at &gt;30% error rate, and maps errors to fix suggestions.</a:t>
            </a:r>
          </a:p>
          <a:p>
            <a:r>
              <a:t>- Two arrow colors: teal = streaming push, blue = request/response pull. Both coexist on the same WebSocket.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Today MCP works like a snapshot camera — the agent asks, gets a point-in-time answer, moves on.</a:t>
            </a:r>
          </a:p>
          <a:p>
            <a:r>
              <a:t>- Real scenario: deploy at 2:03pm, errors spike at 2:04pm, agent doesn't know until 2:15pm. That's an 11-minute blind spot.</a:t>
            </a:r>
          </a:p>
          <a:p>
            <a:r>
              <a:t>- The timeline diagram shows the red gap — the danger zone.</a:t>
            </a:r>
          </a:p>
          <a:p>
            <a:r>
              <a:t>- In incident response, trading, security — 11 minutes is an eternity.</a:t>
            </a:r>
          </a:p>
          <a:p>
            <a:r>
              <a:t>- Can we flip the model so context flows TO the agent continuously?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Top row: traditional pull-based MCP. Bottom row: what we're building.</a:t>
            </a:r>
          </a:p>
          <a:p>
            <a:r>
              <a:t>- Event sources feed Kafka, Kafka feeds the MCP server, server pushes to agents over WebSockets.</a:t>
            </a:r>
          </a:p>
          <a:p>
            <a:r>
              <a:t>- Why Kafka? (1) Durability — events persisted for replay. (2) Backpressure — handles slow consumers. (3) Already in your infra.</a:t>
            </a:r>
          </a:p>
          <a:p>
            <a:r>
              <a:t>- Key insight: hybrid protocol — streaming AND request/response on the same WebSocket. Zero changes to existing MCP tools.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Minimal extension — just two new methods: subscribe and unsubscribe.</a:t>
            </a:r>
          </a:p>
          <a:p>
            <a:r>
              <a:t>- Sequence: Agent sends subscribe('app-logs'). Events flow continuously. Error spike arrives immediately.</a:t>
            </a:r>
          </a:p>
          <a:p>
            <a:r>
              <a:t>- Mid-stream, agent sends get_anomalies() — hybrid protocol in action.</a:t>
            </a:r>
          </a:p>
          <a:p>
            <a:r>
              <a:t>- Backpressure: 500-event bounded queue per subscriber. Slow consumers get oldest events dropped.</a:t>
            </a:r>
          </a:p>
          <a:p>
            <a:r>
              <a:t>- Dead subscribers auto-cleaned — no resource leaks.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Streaming data to agents raises the question: who's allowed to see what?</a:t>
            </a:r>
          </a:p>
          <a:p>
            <a:r>
              <a:t>- Cedar is open-source, now adopted in MCP ecosystem (Bedrock AgentCore, ToolHive).</a:t>
            </a:r>
          </a:p>
          <a:p>
            <a:r>
              <a:t>- Simple model: permit/forbid(principal, action, resource).</a:t>
            </a:r>
          </a:p>
          <a:p>
            <a:r>
              <a:t>- MCP actions: subscribe, get_anomalies, get_context, call_tool. Resources: streams like 'app-logs'.</a:t>
            </a:r>
          </a:p>
          <a:p>
            <a:r>
              <a:t>- Default deny — no matching policy = blocked. Secure by default.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Real Cedar policies from our demo.</a:t>
            </a:r>
          </a:p>
          <a:p>
            <a:r>
              <a:t>- First: anyone can subscribe to app-logs (general observability).</a:t>
            </a:r>
          </a:p>
          <a:p>
            <a:r>
              <a:t>- Second: only ops-agents can call get_anomalies (expensive operation).</a:t>
            </a:r>
          </a:p>
          <a:p>
            <a:r>
              <a:t>- Third: readonly agents explicitly forbidden from audit-logs (compliance data).</a:t>
            </a:r>
          </a:p>
          <a:p>
            <a:r>
              <a:t>- Forbid ALWAYS wins over permit. Human-readable, auditable, version-controllable.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Stack: Confluent Kafka 7.6.0 in Docker, Python 3.9, confluent-kafka 2.13.2, websockets 15.0.1.</a:t>
            </a:r>
          </a:p>
          <a:p>
            <a:r>
              <a:t>- Log simulator generates realistic logs, pushes to Kafka. MCP server consumes and pushes to agents.</a:t>
            </a:r>
          </a:p>
          <a:p>
            <a:r>
              <a:t>- Normal traffic flows first. Then error spike hits.</a:t>
            </a:r>
          </a:p>
          <a:p>
            <a:r>
              <a:t>- Agent detected 'ANOMALY DETECTED — error rate 60% in last 20 events' within 1 second.</a:t>
            </a:r>
          </a:p>
          <a:p>
            <a:r>
              <a:t>- Automatic fixes: ConnectionRefused → check service; OOM → increase heap; Timeout → circuit breaker.</a:t>
            </a:r>
          </a:p>
          <a:p>
            <a:r>
              <a:t>- End-to-end: error to fix suggestion under 2 seconds.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Server-side: rolling 100-event window for stable baseline.</a:t>
            </a:r>
          </a:p>
          <a:p>
            <a:r>
              <a:t>- Agent-side: sliding 20-event window, 30% threshold triggers alert.</a:t>
            </a:r>
          </a:p>
          <a:p>
            <a:r>
              <a:t>- Bar chart: green = normal, red = above threshold, orange line = trigger.</a:t>
            </a:r>
          </a:p>
          <a:p>
            <a:r>
              <a:t>- Agent calls get_anomalies() for structured summary with top-N error patterns.</a:t>
            </a:r>
          </a:p>
          <a:p>
            <a:r>
              <a:t>- Error → remediation mapping: ConnectionRefused → check connectivity; OOM → increase heap; SSL → renew certs.</a:t>
            </a:r>
          </a:p>
          <a:p>
            <a:r>
              <a:t>- All within 1-2 seconds. Compare to the 11-minute blind spot.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Backpressure: 500-event asyncio queue per subscriber. Full = drop oldest. Consider dead-letter topics.</a:t>
            </a:r>
          </a:p>
          <a:p>
            <a:r>
              <a:t>- Hybrid protocol: don't force everything into one model. Subscribe for live feeds, query for summaries.</a:t>
            </a:r>
          </a:p>
          <a:p>
            <a:r>
              <a:t>- Consumer groups: same group ID = load balance (one consumer per event). Different = fan-out (all get every event).</a:t>
            </a:r>
          </a:p>
          <a:p>
            <a:r>
              <a:t>- Reconnection: exponential backoff to avoid thundering herd. Context snapshot on reconnect.</a:t>
            </a:r>
          </a:p>
          <a:p>
            <a:r>
              <a:t>- Be selective: stream errors and anomalies. Batch normal INFO metrics. Don't flood the pipe.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DevOps: what we demoed. Real-time incident detection, automated triage.</a:t>
            </a:r>
          </a:p>
          <a:p>
            <a:r>
              <a:t>- Trading: live market data, latency matters, polling is not an option.</a:t>
            </a:r>
          </a:p>
          <a:p>
            <a:r>
              <a:t>- Security: audit logs with Cedar access control. SOC agent gets alerts; readonly gets summaries.</a:t>
            </a:r>
          </a:p>
          <a:p>
            <a:r>
              <a:t>- CI/CD: file watchers trigger agents on code changes. Auto-test, security check, update docs.</a:t>
            </a:r>
          </a:p>
          <a:p>
            <a:r>
              <a:t>- IoT: sensor data to predictive maintenance. Detect anomalies before equipment fails.</a:t>
            </a:r>
          </a:p>
          <a:p>
            <a:r>
              <a:t>- Common thread: any domain where waiting to be asked is too slow.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MCP is extensible beyond request/response. Streaming is a natural extension.</a:t>
            </a:r>
          </a:p>
          <a:p>
            <a:r>
              <a:t>- Kafka + WebSocket: battle-tested, widely deployed, well-understood.</a:t>
            </a:r>
          </a:p>
          <a:p>
            <a:r>
              <a:t>- Cedar: declarative, auditable policies. Default deny = start secure, open up explicitly.</a:t>
            </a:r>
          </a:p>
          <a:p>
            <a:r>
              <a:t>- Hybrid push + pull on one connection is the key design decision.</a:t>
            </a:r>
          </a:p>
          <a:p>
            <a:r>
              <a:t>- The diagram shows Kafka + WebSocket + Cedar converging into the streaming MCP server.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Complete working code on GitHub: github.com/hakohli/mcp-streaming-demo</a:t>
            </a:r>
          </a:p>
          <a:p>
            <a:r>
              <a:t>- Stack: Confluent Kafka 7.6.0, Cedar, WebSockets 15.0.1, Python 3.9+.</a:t>
            </a:r>
          </a:p>
          <a:p>
            <a:r>
              <a:t>- To run: docker compose up -d, then streaming_mcp_server.py, log_simulator.py, agent_client.py.</a:t>
            </a:r>
          </a:p>
          <a:p>
            <a:r>
              <a:t>- Happy to take questions on architecture, Cedar policies, Kafka integration.</a:t>
            </a:r>
          </a:p>
          <a:p>
            <a:r>
              <a:t>- Interested in contributing? SSE transport, multi-topic subscriptions, persistent agent state — let's talk.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0"/>
          <p:cNvPicPr preferRelativeResize="0"/>
          <p:nvPr/>
        </p:nvPicPr>
        <p:blipFill rotWithShape="1">
          <a:blip r:embed="rId2">
            <a:alphaModFix/>
          </a:blip>
          <a:srcRect b="20485" l="9638" r="11088" t="34584"/>
          <a:stretch/>
        </p:blipFill>
        <p:spPr>
          <a:xfrm>
            <a:off x="6152321" y="0"/>
            <a:ext cx="299167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0"/>
          <p:cNvSpPr txBox="1"/>
          <p:nvPr>
            <p:ph type="ctrTitle"/>
          </p:nvPr>
        </p:nvSpPr>
        <p:spPr>
          <a:xfrm>
            <a:off x="311215" y="1251446"/>
            <a:ext cx="8010201" cy="2024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" type="subTitle"/>
          </p:nvPr>
        </p:nvSpPr>
        <p:spPr>
          <a:xfrm>
            <a:off x="311214" y="3275884"/>
            <a:ext cx="8010201" cy="609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" name="Google Shape;13;p10" title="mcpdevsummit_na26_rever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850" y="0"/>
            <a:ext cx="1932875" cy="11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1"/>
          <p:cNvPicPr preferRelativeResize="0"/>
          <p:nvPr/>
        </p:nvPicPr>
        <p:blipFill rotWithShape="1">
          <a:blip r:embed="rId2">
            <a:alphaModFix/>
          </a:blip>
          <a:srcRect b="20485" l="9638" r="11088" t="34584"/>
          <a:stretch/>
        </p:blipFill>
        <p:spPr>
          <a:xfrm>
            <a:off x="6152321" y="0"/>
            <a:ext cx="299167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1"/>
          <p:cNvSpPr txBox="1"/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7" name="Google Shape;17;p11" title="mcpdevsummit_na26_rever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150" y="4443600"/>
            <a:ext cx="1217200" cy="74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051932">
            <a:alpha val="0"/>
          </a:srgbClr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2"/>
          <p:cNvSpPr txBox="1"/>
          <p:nvPr>
            <p:ph idx="12" type="sldNum"/>
          </p:nvPr>
        </p:nvSpPr>
        <p:spPr>
          <a:xfrm>
            <a:off x="8283600" y="460176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12"/>
          <p:cNvSpPr/>
          <p:nvPr/>
        </p:nvSpPr>
        <p:spPr>
          <a:xfrm>
            <a:off x="0" y="0"/>
            <a:ext cx="9144000" cy="1020588"/>
          </a:xfrm>
          <a:prstGeom prst="rect">
            <a:avLst/>
          </a:prstGeom>
          <a:solidFill>
            <a:srgbClr val="0518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2"/>
          <p:cNvSpPr txBox="1"/>
          <p:nvPr>
            <p:ph type="title"/>
          </p:nvPr>
        </p:nvSpPr>
        <p:spPr>
          <a:xfrm>
            <a:off x="311700" y="23759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400">
                <a:solidFill>
                  <a:schemeClr val="lt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" type="body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23" name="Google Shape;23;p12" title="mcpdevsummit_na26_col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1100" y="4475749"/>
            <a:ext cx="1173250" cy="71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1_Title and body">
    <p:bg>
      <p:bgPr>
        <a:solidFill>
          <a:srgbClr val="051932">
            <a:alpha val="0"/>
          </a:srgbClr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3"/>
          <p:cNvSpPr/>
          <p:nvPr/>
        </p:nvSpPr>
        <p:spPr>
          <a:xfrm>
            <a:off x="0" y="0"/>
            <a:ext cx="9144000" cy="1020588"/>
          </a:xfrm>
          <a:prstGeom prst="rect">
            <a:avLst/>
          </a:prstGeom>
          <a:solidFill>
            <a:srgbClr val="0518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8283600" y="460176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13"/>
          <p:cNvSpPr txBox="1"/>
          <p:nvPr>
            <p:ph type="title"/>
          </p:nvPr>
        </p:nvSpPr>
        <p:spPr>
          <a:xfrm>
            <a:off x="177900" y="22394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400">
                <a:solidFill>
                  <a:schemeClr val="lt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" type="body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29" name="Google Shape;29;p13" title="mcpdevsummit_na26_revers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45225" y="106175"/>
            <a:ext cx="1317525" cy="80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rgbClr val="051932">
            <a:alpha val="0"/>
          </a:srgbClr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4"/>
          <p:cNvSpPr/>
          <p:nvPr/>
        </p:nvSpPr>
        <p:spPr>
          <a:xfrm>
            <a:off x="0" y="0"/>
            <a:ext cx="9144000" cy="1020588"/>
          </a:xfrm>
          <a:prstGeom prst="rect">
            <a:avLst/>
          </a:prstGeom>
          <a:solidFill>
            <a:srgbClr val="0518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4"/>
          <p:cNvSpPr txBox="1"/>
          <p:nvPr>
            <p:ph idx="1" type="body"/>
          </p:nvPr>
        </p:nvSpPr>
        <p:spPr>
          <a:xfrm>
            <a:off x="3117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4"/>
          <p:cNvSpPr txBox="1"/>
          <p:nvPr>
            <p:ph idx="2" type="body"/>
          </p:nvPr>
        </p:nvSpPr>
        <p:spPr>
          <a:xfrm>
            <a:off x="48324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14"/>
          <p:cNvSpPr txBox="1"/>
          <p:nvPr>
            <p:ph idx="12" type="sldNum"/>
          </p:nvPr>
        </p:nvSpPr>
        <p:spPr>
          <a:xfrm>
            <a:off x="8283600" y="460176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14"/>
          <p:cNvSpPr txBox="1"/>
          <p:nvPr>
            <p:ph type="title"/>
          </p:nvPr>
        </p:nvSpPr>
        <p:spPr>
          <a:xfrm>
            <a:off x="311700" y="23759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400">
                <a:solidFill>
                  <a:schemeClr val="lt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6" name="Google Shape;36;p14" title="mcpdevsummit_na26_col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1100" y="4475749"/>
            <a:ext cx="1173250" cy="71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rgbClr val="051932">
            <a:alpha val="0"/>
          </a:srgbClr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/>
          <p:nvPr/>
        </p:nvSpPr>
        <p:spPr>
          <a:xfrm>
            <a:off x="0" y="0"/>
            <a:ext cx="9144000" cy="1020588"/>
          </a:xfrm>
          <a:prstGeom prst="rect">
            <a:avLst/>
          </a:prstGeom>
          <a:solidFill>
            <a:srgbClr val="0518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8283600" y="460176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15"/>
          <p:cNvSpPr txBox="1"/>
          <p:nvPr>
            <p:ph type="title"/>
          </p:nvPr>
        </p:nvSpPr>
        <p:spPr>
          <a:xfrm>
            <a:off x="311700" y="23759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400">
                <a:solidFill>
                  <a:schemeClr val="lt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" name="Google Shape;41;p15" title="mcpdevsummit_na26_col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1100" y="4475749"/>
            <a:ext cx="1173250" cy="71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051932">
            <a:alpha val="0"/>
          </a:srgbClr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6"/>
          <p:cNvSpPr txBox="1"/>
          <p:nvPr>
            <p:ph idx="12" type="sldNum"/>
          </p:nvPr>
        </p:nvSpPr>
        <p:spPr>
          <a:xfrm>
            <a:off x="8283600" y="460176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4" name="Google Shape;44;p16" title="mcpdevsummit_na26_col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1100" y="4475749"/>
            <a:ext cx="1173250" cy="71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Logo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7"/>
          <p:cNvPicPr preferRelativeResize="0"/>
          <p:nvPr/>
        </p:nvPicPr>
        <p:blipFill rotWithShape="1">
          <a:blip r:embed="rId2">
            <a:alphaModFix/>
          </a:blip>
          <a:srcRect b="20485" l="9638" r="11088" t="34584"/>
          <a:stretch/>
        </p:blipFill>
        <p:spPr>
          <a:xfrm>
            <a:off x="6152321" y="0"/>
            <a:ext cx="299167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17" title="mcpdevsummit_na26_rever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875" y="1043450"/>
            <a:ext cx="4059800" cy="249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1_Section head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8"/>
          <p:cNvPicPr preferRelativeResize="0"/>
          <p:nvPr/>
        </p:nvPicPr>
        <p:blipFill rotWithShape="1">
          <a:blip r:embed="rId2">
            <a:alphaModFix/>
          </a:blip>
          <a:srcRect b="20485" l="9638" r="11088" t="34584"/>
          <a:stretch/>
        </p:blipFill>
        <p:spPr>
          <a:xfrm>
            <a:off x="6152321" y="0"/>
            <a:ext cx="299167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8"/>
          <p:cNvSpPr txBox="1"/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51" name="Google Shape;51;p18" title="mcpdevsummit_na26_rever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075" y="4069625"/>
            <a:ext cx="1852575" cy="113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5193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accent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MCP Pulse:</a:t>
            </a:r>
          </a:p>
          <a:p>
            <a:r>
              <a:t>Streaming Context to AI Agents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Building Reactive MCP Servers with Kafka, WebSockets &amp; Cedar</a:t>
            </a:r>
          </a:p>
          <a:p>
            <a:r>
              <a:t>github.com/hakohli/mcp-pulse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t>Traditional MCP = request/response snapshots</a:t>
            </a:r>
          </a:p>
          <a:p>
            <a:pPr>
              <a:spcAft>
                <a:spcPts val="600"/>
              </a:spcAft>
              <a:defRPr sz="1400"/>
            </a:pPr>
            <a:r>
              <a:t>Agent asks for logs → gets point-in-time dump → stale data</a:t>
            </a:r>
          </a:p>
          <a:p>
            <a:pPr>
              <a:spcAft>
                <a:spcPts val="600"/>
              </a:spcAft>
              <a:defRPr sz="1400"/>
            </a:pPr>
            <a:r>
              <a:t>Deploy at 2:03pm, errors at 2:04pm, agent polls at 2:15pm</a:t>
            </a:r>
          </a:p>
          <a:p>
            <a:pPr>
              <a:spcAft>
                <a:spcPts val="600"/>
              </a:spcAft>
              <a:defRPr sz="1400"/>
            </a:pPr>
            <a:r>
              <a:t>What if context came TO the agent, as it happened?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Stale Context Problem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40233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t>Standard MCP: Client → Server → Response (pull model)</a:t>
            </a:r>
          </a:p>
          <a:p>
            <a:pPr>
              <a:spcAft>
                <a:spcPts val="600"/>
              </a:spcAft>
              <a:defRPr sz="1400"/>
            </a:pPr>
            <a:r>
              <a:t>Streaming MCP: Server → Client via subscriptions (push model)</a:t>
            </a:r>
          </a:p>
          <a:p>
            <a:pPr>
              <a:spcAft>
                <a:spcPts val="600"/>
              </a:spcAft>
              <a:defRPr sz="1400"/>
            </a:pPr>
            <a:r>
              <a:t>Why Kafka: durable, replayable, backpressure handling</a:t>
            </a:r>
          </a:p>
          <a:p>
            <a:pPr>
              <a:spcAft>
                <a:spcPts val="600"/>
              </a:spcAft>
              <a:defRPr sz="1400"/>
            </a:pPr>
            <a:r>
              <a:t>Hybrid protocol: streaming + request/response on same connection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Streaming MCP Architecture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40233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t>New method: subscribe / unsubscribe for continuous push</a:t>
            </a:r>
          </a:p>
          <a:p>
            <a:pPr>
              <a:spcAft>
                <a:spcPts val="600"/>
              </a:spcAft>
              <a:defRPr sz="1400"/>
            </a:pPr>
            <a:r>
              <a:t>Still supports get_anomalies, get_context (request/response)</a:t>
            </a:r>
          </a:p>
          <a:p>
            <a:pPr>
              <a:spcAft>
                <a:spcPts val="600"/>
              </a:spcAft>
              <a:defRPr sz="1400"/>
            </a:pPr>
            <a:r>
              <a:t>Bounded queues (500 events) handle backpressure automatically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Protocol Extension: subscribe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40233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t>Open-source policy language by AWS</a:t>
            </a:r>
          </a:p>
          <a:p>
            <a:pPr>
              <a:spcAft>
                <a:spcPts val="600"/>
              </a:spcAft>
              <a:defRPr sz="1400"/>
            </a:pPr>
            <a:r>
              <a:t>Declarative: permit/forbid(principal, action, resource)</a:t>
            </a:r>
          </a:p>
          <a:p>
            <a:pPr>
              <a:spcAft>
                <a:spcPts val="600"/>
              </a:spcAft>
              <a:defRPr sz="1400"/>
            </a:pPr>
            <a:r>
              <a:t>Role-based access control for MCP actions</a:t>
            </a:r>
          </a:p>
          <a:p>
            <a:pPr>
              <a:spcAft>
                <a:spcPts val="600"/>
              </a:spcAft>
              <a:defRPr sz="1400"/>
            </a:pPr>
            <a:r>
              <a:t>Default deny — no matching policy = request denied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Cedar Authorization for MCP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40233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Cedar Policy Examples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t>permit(principal, action == Action::"subscribe", resource == Stream::"app-logs");</a:t>
            </a:r>
          </a:p>
          <a:p>
            <a:pPr>
              <a:spcAft>
                <a:spcPts val="600"/>
              </a:spcAft>
              <a:defRPr sz="1400"/>
            </a:pPr>
            <a:r>
              <a:t>permit(principal, action == Action::"get_anomalies", resource)</a:t>
            </a:r>
            <a:br/>
            <a:r>
              <a:t>    when { principal.role == "ops-agent" };</a:t>
            </a:r>
          </a:p>
          <a:p>
            <a:pPr>
              <a:spcAft>
                <a:spcPts val="600"/>
              </a:spcAft>
              <a:defRPr sz="1400"/>
            </a:pPr>
            <a:r>
              <a:t>forbid(principal, action == Action::"subscribe", resource == Stream::"audit-logs")</a:t>
            </a:r>
            <a:br/>
            <a:r>
              <a:t>    when { principal.role == "readonly" };</a:t>
            </a:r>
          </a:p>
          <a:p>
            <a:pPr>
              <a:spcAft>
                <a:spcPts val="600"/>
              </a:spcAft>
              <a:defRPr sz="1400"/>
            </a:pPr>
            <a:r>
              <a:t>Forbid always wins over permit — secure by default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t>Log simulator → Kafka → MCP Server → AI Agent</a:t>
            </a:r>
          </a:p>
          <a:p>
            <a:pPr>
              <a:spcAft>
                <a:spcPts val="600"/>
              </a:spcAft>
              <a:defRPr sz="1400"/>
            </a:pPr>
            <a:r>
              <a:t>Error spike → agent detects anomaly within 1 second</a:t>
            </a:r>
          </a:p>
          <a:p>
            <a:pPr>
              <a:spcAft>
                <a:spcPts val="600"/>
              </a:spcAft>
              <a:defRPr sz="1400"/>
            </a:pPr>
            <a:r>
              <a:t>Agent queries for anomaly summary mid-stream</a:t>
            </a:r>
          </a:p>
          <a:p>
            <a:pPr>
              <a:spcAft>
                <a:spcPts val="600"/>
              </a:spcAft>
              <a:defRPr sz="1400"/>
            </a:pPr>
            <a:r>
              <a:t>Cedar blocks unauthorized agents from sensitive streams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Demo: Real-time Log Monitoring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40233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t>Rolling window of last 100 events maintained server-side</a:t>
            </a:r>
          </a:p>
          <a:p>
            <a:pPr>
              <a:spcAft>
                <a:spcPts val="600"/>
              </a:spcAft>
              <a:defRPr sz="1400"/>
            </a:pPr>
            <a:r>
              <a:t>Error rate &gt; 30% triggers anomaly alert</a:t>
            </a:r>
          </a:p>
          <a:p>
            <a:pPr>
              <a:spcAft>
                <a:spcPts val="600"/>
              </a:spcAft>
              <a:defRPr sz="1400"/>
            </a:pPr>
            <a:r>
              <a:t>Agent maps error patterns to fix suggestions automatically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Anomaly Detection Flow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40233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Patterns &amp; Gotchas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/>
            </a:pPr>
            <a:r>
              <a:t>1. Backpressure: bounded queues, drop slow subscribers</a:t>
            </a:r>
          </a:p>
          <a:p>
            <a:pPr>
              <a:spcAft>
                <a:spcPts val="600"/>
              </a:spcAft>
              <a:defRPr sz="1600"/>
            </a:pPr>
            <a:r>
              <a:t>2. Hybrid protocol: streaming AND on-demand on same WebSocket</a:t>
            </a:r>
          </a:p>
          <a:p>
            <a:pPr>
              <a:spcAft>
                <a:spcPts val="600"/>
              </a:spcAft>
              <a:defRPr sz="1600"/>
            </a:pPr>
            <a:r>
              <a:t>3. Kafka consumer groups: same = load balance, different = fan-out</a:t>
            </a:r>
          </a:p>
          <a:p>
            <a:pPr>
              <a:spcAft>
                <a:spcPts val="600"/>
              </a:spcAft>
              <a:defRPr sz="1600"/>
            </a:pPr>
            <a:r>
              <a:t>4. Reconnection: exponential backoff + context snapshot</a:t>
            </a:r>
          </a:p>
          <a:p>
            <a:pPr>
              <a:spcAft>
                <a:spcPts val="600"/>
              </a:spcAft>
              <a:defRPr sz="1600"/>
            </a:pPr>
            <a:r>
              <a:t>5. Be selective: stream errors &amp; anomalies, batch normal metrics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t>DevOps — real-time incident detection and auto-remediation</a:t>
            </a:r>
          </a:p>
          <a:p>
            <a:pPr>
              <a:spcAft>
                <a:spcPts val="600"/>
              </a:spcAft>
              <a:defRPr sz="1400"/>
            </a:pPr>
            <a:r>
              <a:t>Trading — live market data feeding AI decision agents</a:t>
            </a:r>
          </a:p>
          <a:p>
            <a:pPr>
              <a:spcAft>
                <a:spcPts val="600"/>
              </a:spcAft>
              <a:defRPr sz="1400"/>
            </a:pPr>
            <a:r>
              <a:t>Security — streaming audit logs with Cedar-authorized access</a:t>
            </a:r>
          </a:p>
          <a:p>
            <a:pPr>
              <a:spcAft>
                <a:spcPts val="600"/>
              </a:spcAft>
              <a:defRPr sz="1400"/>
            </a:pPr>
            <a:r>
              <a:t>CI/CD — file watchers notifying agents of code changes</a:t>
            </a:r>
          </a:p>
          <a:p>
            <a:pPr>
              <a:spcAft>
                <a:spcPts val="600"/>
              </a:spcAft>
              <a:defRPr sz="1400"/>
            </a:pPr>
            <a:r>
              <a:t>IoT — sensor data streaming to predictive maintenance agents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Streaming MCP Unlocks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40233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t>MCP doesn't have to be request/response only</a:t>
            </a:r>
          </a:p>
          <a:p>
            <a:pPr>
              <a:spcAft>
                <a:spcPts val="600"/>
              </a:spcAft>
              <a:defRPr sz="1400"/>
            </a:pPr>
            <a:r>
              <a:t>Kafka (Confluent 7.6.0) + WebSocket = durable, scalable streaming bridge</a:t>
            </a:r>
          </a:p>
          <a:p>
            <a:pPr>
              <a:spcAft>
                <a:spcPts val="600"/>
              </a:spcAft>
              <a:defRPr sz="1400"/>
            </a:pPr>
            <a:r>
              <a:t>Cedar provides declarative, auditable authorization for MCP</a:t>
            </a:r>
          </a:p>
          <a:p>
            <a:pPr>
              <a:spcAft>
                <a:spcPts val="600"/>
              </a:spcAft>
              <a:defRPr sz="1400"/>
            </a:pPr>
            <a:r>
              <a:t>Hybrid protocol (push + pull) on single connection is the sweet spot</a:t>
            </a:r>
          </a:p>
          <a:p>
            <a:pPr>
              <a:spcAft>
                <a:spcPts val="600"/>
              </a:spcAft>
              <a:defRPr sz="1400"/>
            </a:pPr>
            <a:r>
              <a:t>All open source — Python 3.9+, Docker, ~200 lines of code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40233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 &amp; Q&amp;A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github.com/hakohli/mcp-pulse</a:t>
            </a:r>
          </a:p>
          <a:p>
            <a:r>
              <a:t>All open source: Kafka · Cedar · WebSockets · 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SSNA24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EEEEEE"/>
      </a:lt2>
      <a:accent1>
        <a:srgbClr val="00C1DB"/>
      </a:accent1>
      <a:accent2>
        <a:srgbClr val="0060FA"/>
      </a:accent2>
      <a:accent3>
        <a:srgbClr val="FFC800"/>
      </a:accent3>
      <a:accent4>
        <a:srgbClr val="BC37DE"/>
      </a:accent4>
      <a:accent5>
        <a:srgbClr val="FF3C64"/>
      </a:accent5>
      <a:accent6>
        <a:srgbClr val="009EFF"/>
      </a:accent6>
      <a:hlink>
        <a:srgbClr val="00C8B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